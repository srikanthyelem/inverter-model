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968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92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0015" y="4846320"/>
            <a:ext cx="2926080" cy="2926080"/>
          </a:xfrm>
          <a:prstGeom prst="ellipse">
            <a:avLst/>
          </a:prstGeom>
          <a:ln w="12700">
            <a:solidFill>
              <a:srgbClr val="1C729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745675" y="4411980"/>
            <a:ext cx="3794760" cy="3794760"/>
          </a:xfrm>
          <a:prstGeom prst="ellipse">
            <a:avLst/>
          </a:prstGeom>
          <a:ln w="12700">
            <a:solidFill>
              <a:srgbClr val="1C7293">
                <a:alpha val="3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11335" y="3977640"/>
            <a:ext cx="4663440" cy="4663440"/>
          </a:xfrm>
          <a:prstGeom prst="ellipse">
            <a:avLst/>
          </a:prstGeom>
          <a:ln w="12700">
            <a:solidFill>
              <a:srgbClr val="1C7293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76995" y="3543300"/>
            <a:ext cx="5532120" cy="5532120"/>
          </a:xfrm>
          <a:prstGeom prst="ellipse">
            <a:avLst/>
          </a:prstGeom>
          <a:ln w="12700">
            <a:solidFill>
              <a:srgbClr val="1C7293">
                <a:alpha val="2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42655" y="3108960"/>
            <a:ext cx="6400800" cy="6400800"/>
          </a:xfrm>
          <a:prstGeom prst="ellipse">
            <a:avLst/>
          </a:prstGeom>
          <a:ln w="12700">
            <a:solidFill>
              <a:srgbClr val="1C7293">
                <a:alpha val="2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TECHNICAL PRESENTATION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Grid-Forming &amp; Grid-Following Inverter Control,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Dynamic Modeling of AI Data Center Load, in PSCAD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F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average-model GFL/GFM control development — and a double-conversion UPS AI data center load model aligned with the ERCOT / Texas A&amp;M reference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5074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5321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5074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5321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[Department, University]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5074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32120" y="5321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 Name]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5074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5321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23,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Work Streams, One PSCAD Environment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labels below are indicative groupings of the work — align them with your own logbook dates before presenting.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349240" cy="658368"/>
          </a:xfrm>
          <a:prstGeom prst="roundRect">
            <a:avLst>
              <a:gd name="adj" fmla="val 13889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856232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207568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GFL / GFM Control Module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58952" y="2762250"/>
            <a:ext cx="347472" cy="347472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276225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64261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average model &amp; module interface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" y="3348990"/>
            <a:ext cx="347472" cy="347472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334899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322935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SRF-PLL synchronization for GFL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" y="3935730"/>
            <a:ext cx="347472" cy="347472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393573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81609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power loop, inner current loop, negative sequence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4522470"/>
            <a:ext cx="347472" cy="347472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" y="452247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440283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GFM control: P-f and Q-V droop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8952" y="5109210"/>
            <a:ext cx="347472" cy="347472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8952" y="510921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498957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GFM control: Virtual Synchronous Machine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8952" y="5695950"/>
            <a:ext cx="347472" cy="347472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8952" y="569595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557631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GFL/GFM results &amp; benchmarking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17830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09360" y="1783080"/>
            <a:ext cx="5349240" cy="658368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65392" y="1856232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65392" y="207568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Data Center UPS Model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65392" y="276225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65392" y="276225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264261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the ERCOT / TAMU reference model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65392" y="334899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65392" y="334899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322935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Double-conversion UPS electrical topology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65392" y="393573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65392" y="393573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381609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Rectifier (GFL) &amp; inverter (GFM) control blocks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65392" y="452247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65392" y="452247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40880" y="440283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DC/DC converter &amp; battery SOC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565392" y="510921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65392" y="510921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40880" y="498957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/ frequency ride-through (VRT &amp; FRT)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565392" y="569595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65392" y="5695950"/>
            <a:ext cx="475488" cy="467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040880" y="5576316"/>
            <a:ext cx="438912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modes &amp; illustrative results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Progress — Roadmap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PCS Average Model &amp; the GFL/GFM Concept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3192" y="1581912"/>
            <a:ext cx="5431536" cy="437997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work/docimgs/module_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84832"/>
            <a:ext cx="5212080" cy="33357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989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GFL/GFM module I/O inside the PCS average model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516575" cy="1965960"/>
          </a:xfrm>
          <a:prstGeom prst="roundRect">
            <a:avLst>
              <a:gd name="adj" fmla="val 3721"/>
            </a:avLst>
          </a:prstGeom>
          <a:solidFill>
            <a:srgbClr val="EEF4F1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0" y="1810512"/>
            <a:ext cx="5059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8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Grid-FOLLOWING (GFL)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2103120"/>
            <a:ext cx="505937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current source. Uses a PLL to track grid phase/frequency and injects current to P/Q references. Needs a strong external voltage to synchronize to.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3794760"/>
            <a:ext cx="5516575" cy="1965960"/>
          </a:xfrm>
          <a:prstGeom prst="roundRect">
            <a:avLst>
              <a:gd name="adj" fmla="val 3721"/>
            </a:avLst>
          </a:prstGeom>
          <a:solidFill>
            <a:srgbClr val="EAF0F6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0" y="3913632"/>
            <a:ext cx="5059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Grid-FORMING (GFM)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4206240"/>
            <a:ext cx="505937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voltage source with its own internal frequency/voltage reference — like a synchronous generator's rotor. Can black-start and support weak/islanded grids via droop or VSM control.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SRF-PLL Synchronization for GFL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3192" y="1581912"/>
            <a:ext cx="6528816" cy="3465576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work/docimgs/gfl_p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510" y="1691640"/>
            <a:ext cx="4534180" cy="3246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074920"/>
            <a:ext cx="6309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Park/Clarke transform of Va, Vb, Vc into the rotating dq frame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controller drives the q-axis component to zero → locks the frame to the grid voltage vector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theta (angle) and omega (frequency) that every other block is built around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1691640"/>
            <a:ext cx="44650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PLL bandwidth is tuned to grid strength (SCR)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240280"/>
          <a:ext cx="4465014" cy="1737360"/>
        </p:xfrm>
        <a:graphic>
          <a:graphicData uri="http://schemas.openxmlformats.org/drawingml/2006/table">
            <a:tbl>
              <a:tblPr/>
              <a:tblGrid>
                <a:gridCol w="1518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 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PLL BW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PLL Kp/Ki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177.7/15791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88.9/3948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44.4/987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Kp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P-loop Kp/Ki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0.15/60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0.10/35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223760" y="4343400"/>
            <a:ext cx="4465015" cy="1965960"/>
          </a:xfrm>
          <a:prstGeom prst="roundRect">
            <a:avLst>
              <a:gd name="adj" fmla="val 3721"/>
            </a:avLst>
          </a:prstGeom>
          <a:solidFill>
            <a:srgbClr val="FDF3E3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424928" y="4480560"/>
            <a:ext cx="4062679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SCR drops 3 → 1.5, PLL bandwidth is deliberately cut 4× (20→5 Hz) to stay stable on a weaker grid — current-loop and power-loop gains are retuned together, not left fixed.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Outer Power Loop &amp; Inner Current Loop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3192" y="1581912"/>
            <a:ext cx="6803136" cy="1636776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work/docimgs/gfl_power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63235"/>
            <a:ext cx="6583680" cy="12741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" y="3319272"/>
            <a:ext cx="6803136" cy="2825496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work/docimgs/gfl_curctr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537" y="3429000"/>
            <a:ext cx="4852446" cy="2606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0" y="1691640"/>
            <a:ext cx="41906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loop:</a:t>
            </a:r>
            <a:endParaRPr lang="en-US" sz="135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Pref/Qref → derivative/deadband → PI vs. Pmea/Qmea → rate limiter → Idref / Iqref</a:t>
            </a:r>
            <a:endParaRPr lang="en-US" sz="135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loop:</a:t>
            </a:r>
            <a:endParaRPr lang="en-US" sz="135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abc→dq0 measurement, decoupled Id/Iq PI control produces Vdcom, Vqcom</a:t>
            </a:r>
            <a:endParaRPr lang="en-US" sz="135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Decoupling:</a:t>
            </a:r>
            <a:endParaRPr lang="en-US" sz="135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0.01384 pu feed-forward gains cancel d/q cross-coupling from the rotating frame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Negative-Sequence Control &amp; Output Enable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3192" y="1581912"/>
            <a:ext cx="4791456" cy="3785616"/>
          </a:xfrm>
          <a:prstGeom prst="roundRect">
            <a:avLst>
              <a:gd name="adj" fmla="val 193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work/docimgs/gfl_outs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43196"/>
            <a:ext cx="4572000" cy="28630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32120" y="1691640"/>
            <a:ext cx="6156655" cy="2331720"/>
          </a:xfrm>
          <a:prstGeom prst="roundRect">
            <a:avLst>
              <a:gd name="adj" fmla="val 3137"/>
            </a:avLst>
          </a:prstGeom>
          <a:solidFill>
            <a:srgbClr val="F1F5F7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0" y="1828800"/>
            <a:ext cx="5699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Negative-sequence path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760720" y="2121408"/>
            <a:ext cx="56994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dq current-control structure is mirrored using ω_n = −ω and a separate Id_n/Iq_n pair, so the converter can regulate negative-sequence current independently of positive-sequence current — needed for ride-through under unbalanced voltage sags rather than tripping.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532120" y="4206240"/>
            <a:ext cx="6156655" cy="2103120"/>
          </a:xfrm>
          <a:prstGeom prst="roundRect">
            <a:avLst>
              <a:gd name="adj" fmla="val 3478"/>
            </a:avLst>
          </a:prstGeom>
          <a:solidFill>
            <a:srgbClr val="F1F5F7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60720" y="4343400"/>
            <a:ext cx="5699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Output-stage soft start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760720" y="4636008"/>
            <a:ext cx="569945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Ctrl-driven switch, Delay block, and N/D divider assemble the dq voltage commands into the abc output Vgfl — ramping the output in cleanly on enable or mode change, rather than stepping.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GFL Illustrative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3192" y="1490472"/>
            <a:ext cx="5568696" cy="4425696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ork/docimgs/chart_p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10941"/>
            <a:ext cx="5349240" cy="27847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99632" y="1490472"/>
            <a:ext cx="5568696" cy="4425696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work/docimgs/chart_p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607" y="1920714"/>
            <a:ext cx="5349240" cy="356520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598932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85800" y="598932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/ expected-behavior charts derived from the control equations — the PSCAD graph frames had not yet been populated with a run. Swap in your captured Freq_PLL / Idref / Iqref traces.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GFM Control: P-f and Q-V Droop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3192" y="1581912"/>
            <a:ext cx="7168896" cy="2368296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work/docimgs/gfm_dr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81185"/>
            <a:ext cx="6949440" cy="1569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02336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P-f droop:</a:t>
            </a:r>
            <a:endParaRPr lang="en-US" sz="135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Pmea (low-pass filtered) vs. Pref, × 0.05 droop gain (5%), added to 377 rad/s nominal, integrated with Comparator/Clear angle wraparound → thetagfm</a:t>
            </a:r>
            <a:endParaRPr lang="en-US" sz="135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 droop:</a:t>
            </a:r>
            <a:endParaRPr lang="en-US" sz="135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on Qmea vs. Qref1 → Vref (1.0 pu nominal, 5% gain, limiter)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863840" y="1691640"/>
            <a:ext cx="3824935" cy="4526280"/>
          </a:xfrm>
          <a:prstGeom prst="roundRect">
            <a:avLst>
              <a:gd name="adj" fmla="val 1913"/>
            </a:avLst>
          </a:prstGeom>
          <a:solidFill>
            <a:srgbClr val="EAF0F6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65008" y="1828800"/>
            <a:ext cx="34225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a generator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65008" y="2331720"/>
            <a:ext cx="342259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P-f droop mirrors a governor; Q-V droop mirrors an AVR. If Pmea &gt; Pref, frequency droops down in proportion to the 5% gain — exactly how parallel generators (or parallel GFM inverters) share load with no communication needed.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GFM Control: Virtual Synchronous Machine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3192" y="1581912"/>
            <a:ext cx="7168896" cy="2368296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work/docimgs/gfm_v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09798"/>
            <a:ext cx="6949440" cy="15125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9776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2H · dω/dt  =  Pref − Pmea − D·(ω − ω₀)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526280"/>
            <a:ext cx="6949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0.125 gain ↔ 1/(2H) → inertia constant H ≈ 4 s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×20 feedback path ↔ damping term D = 20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377 rad/s scaling + Comparator/Clear wraparound as the droop path → thetavsm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1691640"/>
            <a:ext cx="3824935" cy="4526280"/>
          </a:xfrm>
          <a:prstGeom prst="roundRect">
            <a:avLst>
              <a:gd name="adj" fmla="val 1913"/>
            </a:avLst>
          </a:prstGeom>
          <a:solidFill>
            <a:srgbClr val="FDF3E3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65008" y="1828800"/>
            <a:ext cx="34225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Droop + inertia, not just droop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65008" y="2331720"/>
            <a:ext cx="342259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swing equation carries an inertia term (2H), a sudden power imbalance changes VSM frequency gradually — a bounded rate-of-change-of-frequency (RoCoF) — rather than jumping toward the droop-implied point, while D still pulls it back to a comparable steady state.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991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88380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GFM Illustrative Results — Droop vs. VSM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3192" y="1490472"/>
            <a:ext cx="5568696" cy="4425696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ork/docimgs/chart_dr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715"/>
            <a:ext cx="5349240" cy="356520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99632" y="1490472"/>
            <a:ext cx="5568696" cy="4425696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work/docimgs/chart_v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255858"/>
            <a:ext cx="5349240" cy="28949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598932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85800" y="598932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swing-equation simulation, not a captured PSCAD run — note the visibly slower initial RoCoF for VSM (H = 4 s) vs. plain droop for the same disturbance.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  ·  GFL / GFM CONTROL MODULE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783080"/>
            <a:ext cx="3291840" cy="3291840"/>
          </a:xfrm>
          <a:prstGeom prst="ellipse">
            <a:avLst/>
          </a:prstGeom>
          <a:ln w="12700">
            <a:solidFill>
              <a:srgbClr val="F2A5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891540" y="1257300"/>
            <a:ext cx="4343400" cy="4343400"/>
          </a:xfrm>
          <a:prstGeom prst="ellipse">
            <a:avLst/>
          </a:prstGeom>
          <a:ln w="12700">
            <a:solidFill>
              <a:srgbClr val="F2A541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417320" y="731520"/>
            <a:ext cx="5394960" cy="5394960"/>
          </a:xfrm>
          <a:prstGeom prst="ellipse">
            <a:avLst/>
          </a:prstGeom>
          <a:ln w="12700">
            <a:solidFill>
              <a:srgbClr val="F2A541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943100" y="205740"/>
            <a:ext cx="6446520" cy="6446520"/>
          </a:xfrm>
          <a:prstGeom prst="ellipse">
            <a:avLst/>
          </a:prstGeom>
          <a:ln w="12700">
            <a:solidFill>
              <a:srgbClr val="F2A541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Modeling of AI Data Center Load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double-conversion UPS model aligned with the ERCOT / Texas A&amp;M reference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Data Center Load Modeling Matters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6035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centers connect through UPS systems (rectifier, inverter, battery) with fast, nonlinear ride-through logic</a:t>
            </a:r>
            <a:endParaRPr lang="en-US" sz="1450" dirty="0"/>
          </a:p>
          <a:p>
            <a:pPr marL="177800" indent="-1778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events show that logic can disconnect a facility — or a fleet of them at once — on a fault that wouldn't trip a conventional load</a:t>
            </a:r>
            <a:endParaRPr lang="en-US" sz="1450" dirty="0"/>
          </a:p>
          <a:p>
            <a:pPr marL="177800" indent="-1778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has formalized large-load interconnection (NPRR1234 / PGRR115, ≥ 75 MW) and is moving toward requiring detailed PSCAD/EMT converter models, not generic composite loads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995160" y="1737360"/>
            <a:ext cx="4693615" cy="4251960"/>
          </a:xfrm>
          <a:prstGeom prst="roundRect">
            <a:avLst>
              <a:gd name="adj" fmla="val 1720"/>
            </a:avLst>
          </a:prstGeom>
          <a:solidFill>
            <a:srgbClr val="EAF0F6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51192" y="1920240"/>
            <a:ext cx="41815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REFERENCE, WORK STREAM 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251192" y="2267712"/>
            <a:ext cx="4181551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Wang, Chen, Enjeti, Lin (Texas A&amp;M) — Yazdanpanah, Rose, Cheng, Quedan, Kansal (ERCOT), “Dynamic Modeling of AI Data Center Load in PSCAD,” TAMU–ERCOT, v1.0, April 2026.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51192" y="3749040"/>
            <a:ext cx="4181551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modular PSCAD EMT model (switching + average) of a double-conversion UPS AI data center: rectifier, inverter, bidirectional DC/DC, battery, VFD cooling, computing loads, and a centralized VRT/FRT module. Published so industry has a shared, non-proprietary starting point.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Double-Conversion UPS Electrical Topology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3192" y="1581912"/>
            <a:ext cx="11405311" cy="1911096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work/docimgs/ups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8525"/>
            <a:ext cx="11185855" cy="167787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794760"/>
            <a:ext cx="5364328" cy="2468880"/>
          </a:xfrm>
          <a:prstGeom prst="roundRect">
            <a:avLst>
              <a:gd name="adj" fmla="val 2963"/>
            </a:avLst>
          </a:prstGeom>
          <a:solidFill>
            <a:srgbClr val="F1F5F7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path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251960"/>
            <a:ext cx="490712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connects directly to the utility bus through BRK_Bypass — no power-electronic conversion, most efficient, used when grid voltage/frequency are healthy.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24448" y="3794760"/>
            <a:ext cx="5364328" cy="2468880"/>
          </a:xfrm>
          <a:prstGeom prst="roundRect">
            <a:avLst>
              <a:gd name="adj" fmla="val 2963"/>
            </a:avLst>
          </a:prstGeom>
          <a:solidFill>
            <a:srgbClr val="F1F5F7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53048" y="3931920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path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53048" y="4251960"/>
            <a:ext cx="490712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Rectifier (AC→DC) → DC link → Inverter (DC→AC) continuously regulates 480V/60Hz to the load, isolating it from most upstream disturbances. Battery sits on the DC link via a bidirectional DC/DC converter.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Conversion Blocks: Rectifier &amp; Inverter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364328" cy="4434840"/>
          </a:xfrm>
          <a:prstGeom prst="roundRect">
            <a:avLst>
              <a:gd name="adj" fmla="val 1649"/>
            </a:avLst>
          </a:prstGeom>
          <a:solidFill>
            <a:srgbClr val="EEF4F1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874520"/>
            <a:ext cx="4852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RECTIFIER  (AC → DC)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2194560"/>
            <a:ext cx="4852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Grid-following converter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" y="2651760"/>
            <a:ext cx="485226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3-phase, 2-level VSC; synchronizes via PLL (Freq_PLL)</a:t>
            </a:r>
            <a:endParaRPr lang="en-US" sz="1250" dirty="0"/>
          </a:p>
          <a:p>
            <a:pPr marL="177800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double-loop cascade, same as Work Stream A</a:t>
            </a:r>
            <a:endParaRPr lang="en-US" sz="1250" dirty="0"/>
          </a:p>
          <a:p>
            <a:pPr marL="355600" lvl="1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d-axis:</a:t>
            </a:r>
            <a:endParaRPr lang="en-US" sz="1250" dirty="0"/>
          </a:p>
          <a:p>
            <a:pPr marL="355600" lvl="1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DC-link voltage (or active power during reconnection)</a:t>
            </a:r>
            <a:endParaRPr lang="en-US" sz="1250" dirty="0"/>
          </a:p>
          <a:p>
            <a:pPr marL="355600" lvl="1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q-axis:</a:t>
            </a:r>
            <a:endParaRPr lang="en-US" sz="1250" dirty="0"/>
          </a:p>
          <a:p>
            <a:pPr marL="355600" lvl="1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power, typically Q = 0</a:t>
            </a:r>
            <a:endParaRPr lang="en-US" sz="1250" dirty="0"/>
          </a:p>
          <a:p>
            <a:pPr marL="177800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Ramp-rate limited on take-over, trip, and reconnection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4448" y="1691640"/>
            <a:ext cx="5364328" cy="4434840"/>
          </a:xfrm>
          <a:prstGeom prst="roundRect">
            <a:avLst>
              <a:gd name="adj" fmla="val 1649"/>
            </a:avLst>
          </a:prstGeom>
          <a:solidFill>
            <a:srgbClr val="EAF0F6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0480" y="1874520"/>
            <a:ext cx="4852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 (DC → AC)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0480" y="2194560"/>
            <a:ext cx="4852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Grid-forming converter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0480" y="2651760"/>
            <a:ext cx="485226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3-phase, 2-level VSC; P-f / Q-V droop, same as Work Stream A</a:t>
            </a:r>
            <a:endParaRPr lang="en-US" sz="1250" dirty="0"/>
          </a:p>
          <a:p>
            <a:pPr marL="355600" lvl="1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d-axis:</a:t>
            </a:r>
            <a:endParaRPr lang="en-US" sz="1250" dirty="0"/>
          </a:p>
          <a:p>
            <a:pPr marL="355600" lvl="1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voltage magnitude</a:t>
            </a:r>
            <a:endParaRPr lang="en-US" sz="1250" dirty="0"/>
          </a:p>
          <a:p>
            <a:pPr marL="355600" lvl="1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q-axis:</a:t>
            </a:r>
            <a:endParaRPr lang="en-US" sz="1250" dirty="0"/>
          </a:p>
          <a:p>
            <a:pPr marL="355600" lvl="1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held at 0</a:t>
            </a:r>
            <a:endParaRPr lang="en-US" sz="1250" dirty="0"/>
          </a:p>
          <a:p>
            <a:pPr marL="177800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its own voltage/frequency — the load only “sees” a disturbance if the DC link itself collapses</a:t>
            </a:r>
            <a:endParaRPr lang="en-US" sz="1250" dirty="0"/>
          </a:p>
          <a:p>
            <a:pPr marL="177800" indent="-177800" algn="l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VDC–VAC droop: reduces AC voltage as DC link sags, protecting the DC link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DC/DC Converter &amp; Battery SOC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3192" y="1581912"/>
            <a:ext cx="6254496" cy="2551176"/>
          </a:xfrm>
          <a:prstGeom prst="roundRect">
            <a:avLst>
              <a:gd name="adj" fmla="val 2867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work/docimgs/ups_batt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6614"/>
            <a:ext cx="6035040" cy="17817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2519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/ SOC block: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Non-ideal (Thevenin-like) model — internal source + output resistance, so terminal voltage sags under discharge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signal tracks remaining energy through charge/discharge cycling; essential for ride-through duration and future extensions (e.g., de-rating near SOC limits)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95160" y="1691640"/>
            <a:ext cx="4693615" cy="2148840"/>
          </a:xfrm>
          <a:prstGeom prst="roundRect">
            <a:avLst>
              <a:gd name="adj" fmla="val 3404"/>
            </a:avLst>
          </a:prstGeom>
          <a:solidFill>
            <a:srgbClr val="FDF3E3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223760" y="1810512"/>
            <a:ext cx="4236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  —  charging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23760" y="2103120"/>
            <a:ext cx="42364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link → battery. Single-loop power control tracks a modest charging-power reference, well below the rectifier's spare capacity.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995160" y="3977640"/>
            <a:ext cx="4693615" cy="2286000"/>
          </a:xfrm>
          <a:prstGeom prst="roundRect">
            <a:avLst>
              <a:gd name="adj" fmla="val 3200"/>
            </a:avLst>
          </a:prstGeom>
          <a:solidFill>
            <a:srgbClr val="EAF0F6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223760" y="4096512"/>
            <a:ext cx="4236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 —  discharging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4389120"/>
            <a:ext cx="423641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→ DC link. Single-loop DC-link-voltage control — the battery becomes the DC link's primary regulator once the rectifier can't hold it up.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 &amp; Frequency Ride-Through (VRT/FRT)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3192" y="1581912"/>
            <a:ext cx="6757416" cy="3465576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work/docimgs/ups_vrtf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62846"/>
            <a:ext cx="6537960" cy="31037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0" y="1691640"/>
            <a:ext cx="4236415" cy="4526280"/>
          </a:xfrm>
          <a:prstGeom prst="roundRect">
            <a:avLst>
              <a:gd name="adj" fmla="val 1727"/>
            </a:avLst>
          </a:prstGeom>
          <a:solidFill>
            <a:srgbClr val="F1F5F7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53528" y="1828800"/>
            <a:ext cx="38340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UPS's supervisory brain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53528" y="2240280"/>
            <a:ext cx="3834079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PCC voltage/frequency, rectifier current, bypass current against multi-point ride-through curves with hold-up times</a:t>
            </a:r>
            <a:endParaRPr lang="en-US" sz="125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3 coordinated outputs: Bypass, DBlk_Rect, Charging1_Discharging0</a:t>
            </a:r>
            <a:endParaRPr lang="en-US" sz="125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Rect_daxis_control AND-gate + first-order P_Inv_Setpoint filter smooth mode transitions</a:t>
            </a:r>
            <a:endParaRPr lang="en-US" sz="1250" dirty="0"/>
          </a:p>
          <a:p>
            <a:pPr marL="177800" indent="-1778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is never blocked — the load never loses supply while sources negotiate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1847" y="384048"/>
            <a:ext cx="566928" cy="566928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030407" y="38404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271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2714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Operating Modes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5856" cy="2103120"/>
        </p:xfrm>
        <a:graphic>
          <a:graphicData uri="http://schemas.openxmlformats.org/drawingml/2006/table">
            <a:tbl>
              <a:tblPr/>
              <a:tblGrid>
                <a:gridCol w="2013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9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from utility, through BRK_Bypass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/ trickle-charging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Standby or charging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converter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Rectifier → DC link → Inverter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Regulates DC-link voltage (GFL)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 mode, charging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backup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→ DC/DC → DC link → Inverter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/ tripped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 mode, discharging, regulates DC link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343400"/>
            <a:ext cx="111858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grid → bypass (most efficient). Excursion beyond the bypass ride-through curve → normal converter mode (GFL rectifier + GFM inverter jointly regulate). Rectifier trip on a severe disturbance → battery backup keeps the DC link — and the inverter, and therefore the load — alive until the grid recovers and the rectifier reconnects on a load-like ramp.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Ride-Through &amp; Load-Buffering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3192" y="1444752"/>
            <a:ext cx="4379976" cy="447141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ork/docimgs/chart_ups_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50" y="1554480"/>
            <a:ext cx="408826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5192" y="1444752"/>
            <a:ext cx="6620256" cy="4471416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work/docimgs/chart_load_s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114" y="1554480"/>
            <a:ext cx="6318413" cy="4251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594360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85800" y="594360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drawn to match the qualitative pattern reported in the ERCOT/TAMU reference (Wang et al., 2026) — not the user's own captured PSCAD run.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  ·  AI DATA CENTER UPS MODEL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Work Completed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64328" cy="4434840"/>
          </a:xfrm>
          <a:prstGeom prst="roundRect">
            <a:avLst>
              <a:gd name="adj" fmla="val 1649"/>
            </a:avLst>
          </a:prstGeom>
          <a:solidFill>
            <a:srgbClr val="EEF4F1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847088"/>
            <a:ext cx="485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2194560"/>
            <a:ext cx="48522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GFL/GFM module integrated into the PCS average model with a defined I/O interface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SRF-PLL synchronization tuned across 3 SCR operating points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power loop + inner current loop, with decoupling and full negative-sequence control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GFM implemented two ways — P-f/Q-V droop and VSM — with reasoned RoCoF/inertia comparison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1691640"/>
            <a:ext cx="5364328" cy="4434840"/>
          </a:xfrm>
          <a:prstGeom prst="roundRect">
            <a:avLst>
              <a:gd name="adj" fmla="val 1649"/>
            </a:avLst>
          </a:prstGeom>
          <a:solidFill>
            <a:srgbClr val="EAF0F6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0480" y="1847088"/>
            <a:ext cx="485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STREAM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0480" y="2194560"/>
            <a:ext cx="48522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Double-conversion UPS topology reproduced from the ERCOT/TAMU reference model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Rectifier mapped to GFL control, inverter to GFM droop — direct reuse of Stream A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DC/DC buck/boost logic and battery/SOC block documented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VRT/FRT module and 3 operating modes documented end to 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8838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64328" cy="4434840"/>
          </a:xfrm>
          <a:prstGeom prst="roundRect">
            <a:avLst>
              <a:gd name="adj" fmla="val 1649"/>
            </a:avLst>
          </a:prstGeom>
          <a:solidFill>
            <a:srgbClr val="104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847088"/>
            <a:ext cx="485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2194560"/>
            <a:ext cx="48522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PLL bandwidth is a stability lever co-tuned with grid strength, not a fixed constant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GFM's real value is giving downstream loads/buses something to synchronize to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= droop + explicit inertia — bounded RoCoF during the transient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ride-through is a coordinated, multi-converter behavior, not one block's job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1691640"/>
            <a:ext cx="5364328" cy="4434840"/>
          </a:xfrm>
          <a:prstGeom prst="roundRect">
            <a:avLst>
              <a:gd name="adj" fmla="val 1649"/>
            </a:avLst>
          </a:prstGeom>
          <a:solidFill>
            <a:srgbClr val="104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0480" y="1847088"/>
            <a:ext cx="485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0480" y="2194560"/>
            <a:ext cx="48522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PSCAD cases; replace every illustrative chart with captured data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PLL/current-loop tuning with small-signal stability margins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Multi-disturbance VSM vs. droop study — quantify RoCoF &amp; nadir improvement</a:t>
            </a:r>
            <a:endParaRPr lang="en-US" sz="1300" dirty="0"/>
          </a:p>
          <a:p>
            <a:pPr marL="177800" indent="-177800" algn="l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the full LVRT/HVRT curve; load the real ComputingLoad.txt profile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Next Steps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2808" y="1691640"/>
            <a:ext cx="2926080" cy="2926080"/>
          </a:xfrm>
          <a:prstGeom prst="ellipse">
            <a:avLst/>
          </a:prstGeom>
          <a:ln w="12700">
            <a:solidFill>
              <a:srgbClr val="1C729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98468" y="1257300"/>
            <a:ext cx="3794760" cy="3794760"/>
          </a:xfrm>
          <a:prstGeom prst="ellipse">
            <a:avLst/>
          </a:prstGeom>
          <a:ln w="12700">
            <a:solidFill>
              <a:srgbClr val="1C7293">
                <a:alpha val="3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764128" y="822960"/>
            <a:ext cx="4663440" cy="4663440"/>
          </a:xfrm>
          <a:prstGeom prst="ellipse">
            <a:avLst/>
          </a:prstGeom>
          <a:ln w="12700">
            <a:solidFill>
              <a:srgbClr val="1C7293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29788" y="388620"/>
            <a:ext cx="5532120" cy="5532120"/>
          </a:xfrm>
          <a:prstGeom prst="ellipse">
            <a:avLst/>
          </a:prstGeom>
          <a:ln w="12700">
            <a:solidFill>
              <a:srgbClr val="1C7293">
                <a:alpha val="2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895448" y="-45720"/>
            <a:ext cx="6400800" cy="6400800"/>
          </a:xfrm>
          <a:prstGeom prst="ellipse">
            <a:avLst/>
          </a:prstGeom>
          <a:ln w="12700">
            <a:solidFill>
              <a:srgbClr val="1C7293">
                <a:alpha val="2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26060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GFL/GFM Control Module Development  ·  AI Data Center UPS Load Modeling  ·  PSCAD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2301</Words>
  <Application>Microsoft Office PowerPoint</Application>
  <PresentationFormat>Widescreen</PresentationFormat>
  <Paragraphs>286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Srikanth Yelem</cp:lastModifiedBy>
  <cp:revision>2</cp:revision>
  <dcterms:created xsi:type="dcterms:W3CDTF">2026-07-23T19:11:21Z</dcterms:created>
  <dcterms:modified xsi:type="dcterms:W3CDTF">2026-07-27T13:30:46Z</dcterms:modified>
</cp:coreProperties>
</file>